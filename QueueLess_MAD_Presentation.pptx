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4A2D2B32-0DA1-973D-563E-2A9B69324C04}">
          <p14:sldIdLst>
            <p14:sldId id="256"/>
          </p14:sldIdLst>
        </p14:section>
        <p14:section name="Introduction" id="{24ED4AB3-7EE2-E269-F1BA-71D594E9136D}">
          <p14:sldIdLst>
            <p14:sldId id="257"/>
            <p14:sldId id="258"/>
            <p14:sldId id="259"/>
          </p14:sldIdLst>
        </p14:section>
        <p14:section name="Design" id="{41C07CFB-C3C3-3111-2162-1F887C2008AE}">
          <p14:sldIdLst>
            <p14:sldId id="260"/>
            <p14:sldId id="262"/>
            <p14:sldId id="263"/>
            <p14:sldId id="264"/>
            <p14:sldId id="274"/>
            <p14:sldId id="265"/>
          </p14:sldIdLst>
        </p14:section>
        <p14:section name="Classes" id="{62F72283-146A-1F67-7FFD-4BE1DD7C27B3}">
          <p14:sldIdLst>
            <p14:sldId id="266"/>
            <p14:sldId id="267"/>
            <p14:sldId id="268"/>
            <p14:sldId id="269"/>
          </p14:sldIdLst>
        </p14:section>
        <p14:section name="Flow" id="{F80EC1E4-E305-379D-4F69-DC208C5D3109}">
          <p14:sldIdLst>
            <p14:sldId id="271"/>
            <p14:sldId id="272"/>
          </p14:sldIdLst>
        </p14:section>
        <p14:section name="Wrap-up" id="{47C6AF21-C947-26ED-5B5F-CD9103B3F123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351" autoAdjust="0"/>
  </p:normalViewPr>
  <p:slideViewPr>
    <p:cSldViewPr snapToGrid="0" snapToObjects="1">
      <p:cViewPr>
        <p:scale>
          <a:sx n="90" d="100"/>
          <a:sy n="90" d="100"/>
        </p:scale>
        <p:origin x="60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F172A"/>
                </a:solidFill>
                <a:latin typeface="+mn-lt"/>
              </a:rPr>
              <a:t>Priority rises 1 point every 5 minutes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08-4B5F-95CE-F34D1830C9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Senior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08-4B5F-95CE-F34D1830C9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Appointment</c:v>
                </c:pt>
              </c:strCache>
            </c:strRef>
          </c:tx>
          <c:spPr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08-4B5F-95CE-F34D1830C95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General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08-4B5F-95CE-F34D1830C9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lang="en-IN" sz="1100" b="0" i="0" u="none" strike="noStrike">
                    <a:solidFill>
                      <a:srgbClr val="000000"/>
                    </a:solidFill>
                    <a:latin typeface="+mn-lt"/>
                  </a:rPr>
                  <a:t>Minutes waited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lang="en-IN" sz="1100" b="0" i="0" u="none" strike="noStrike">
                    <a:solidFill>
                      <a:srgbClr val="000000"/>
                    </a:solidFill>
                    <a:latin typeface="+mn-lt"/>
                  </a:rPr>
                  <a:t>Effective priority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23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82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QueueLess  |  MAD  |  Amey (T052), Sumit (T053)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QueueLess</a:t>
            </a: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Smart Queue Management System for Android</a:t>
            </a:r>
          </a:p>
        </p:txBody>
      </p:sp>
      <p:sp>
        <p:nvSpPr>
          <p:cNvPr id="4" name="Token chip 1"/>
          <p:cNvSpPr/>
          <p:nvPr/>
        </p:nvSpPr>
        <p:spPr>
          <a:xfrm>
            <a:off x="585216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Emergency  TKN-101-001</a:t>
            </a:r>
            <a:endParaRPr lang="en-US" sz="1400" dirty="0"/>
          </a:p>
        </p:txBody>
      </p:sp>
      <p:sp>
        <p:nvSpPr>
          <p:cNvPr id="5" name="Token chip 2"/>
          <p:cNvSpPr/>
          <p:nvPr/>
        </p:nvSpPr>
        <p:spPr>
          <a:xfrm>
            <a:off x="5852160" y="196596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Senior Citizen  TKN-101-002</a:t>
            </a:r>
            <a:endParaRPr lang="en-US" sz="1400" dirty="0"/>
          </a:p>
        </p:txBody>
      </p:sp>
      <p:sp>
        <p:nvSpPr>
          <p:cNvPr id="6" name="Token chip 3"/>
          <p:cNvSpPr/>
          <p:nvPr/>
        </p:nvSpPr>
        <p:spPr>
          <a:xfrm>
            <a:off x="5852160" y="283464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General  TKN-101-003</a:t>
            </a:r>
            <a:endParaRPr lang="en-US" sz="1400" dirty="0"/>
          </a:p>
        </p:txBody>
      </p:sp>
      <p:sp>
        <p:nvSpPr>
          <p:cNvPr id="7" name="Submission Subject"/>
          <p:cNvSpPr txBox="1"/>
          <p:nvPr/>
        </p:nvSpPr>
        <p:spPr>
          <a:xfrm>
            <a:off x="64008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SUBJECT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Mobile Application Development (MAD)</a:t>
            </a:r>
            <a:endParaRPr lang="en-US" sz="1400" dirty="0"/>
          </a:p>
        </p:txBody>
      </p:sp>
      <p:sp>
        <p:nvSpPr>
          <p:cNvPr id="8" name="Submission Submitted by"/>
          <p:cNvSpPr txBox="1"/>
          <p:nvPr/>
        </p:nvSpPr>
        <p:spPr>
          <a:xfrm>
            <a:off x="338328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SUBMITTED BY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Amey (T052)  and  Sumit (T053)</a:t>
            </a:r>
            <a:endParaRPr lang="en-US" sz="1400" dirty="0"/>
          </a:p>
        </p:txBody>
      </p:sp>
      <p:sp>
        <p:nvSpPr>
          <p:cNvPr id="9" name="Submission Submitted to"/>
          <p:cNvSpPr txBox="1"/>
          <p:nvPr/>
        </p:nvSpPr>
        <p:spPr>
          <a:xfrm>
            <a:off x="612648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SUBMITTED TO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Dr. Preetjot Kaur</a:t>
            </a:r>
            <a:endParaRPr lang="en-US" sz="1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60" b="30618"/>
          <a:stretch/>
        </p:blipFill>
        <p:spPr>
          <a:xfrm>
            <a:off x="500682" y="996625"/>
            <a:ext cx="2314575" cy="1902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Introduction and Objectives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66344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problem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Long physical queues in hospitals, banks, colleges and offices waste time, and urgent cases get no priority.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objectives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Replace paper tokens with digital tokens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Serve urgent cases first, fairly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 live queue position and wait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 admins one place to run the queue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0" y="1097280"/>
            <a:ext cx="1554480" cy="16459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39496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Java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1554480" cy="16459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13232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16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Screens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2880360"/>
            <a:ext cx="1554480" cy="16459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94960" y="3154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SQLite tables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0" y="2880360"/>
            <a:ext cx="1554480" cy="16459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0" y="3154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Priority levels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Key Features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ecure Login and Rol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Secure Login and Roles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USER and ADMIN accounts with salted PBKDF2 password hashing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Digital Toke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280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Digital Tokens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Pick a service and get a numbered token like TKN-101-001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Smart Prior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2801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Priority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Emergency, Senior, Appointment and General, with aging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Live Position and ETA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chemeClr val="tx1"/>
                </a:solidFill>
              </a:rPr>
              <a:t>ETA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See your place in the queue and the estimated wait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2900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QR Code Token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2004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QR Code Tokens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Show a QR code; staff scan it to open the token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Admin Control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004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 Control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Call next, complete, skip or cancel; manage services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Technologies Used</a:t>
            </a: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7847"/>
              </p:ext>
            </p:extLst>
          </p:nvPr>
        </p:nvGraphicFramePr>
        <p:xfrm>
          <a:off x="457200" y="1097280"/>
          <a:ext cx="8229600" cy="304495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Java 11, Android SDK 34 (min 24)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Core language and platform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AppCompat, ConstraintLayout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Activities and responsive screen layouts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Material Components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Cards, text inputs, bottom navigation, switch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RecyclerView, CardView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Scrolling lists of services, tokens, history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SQLite (SQLiteOpenHelper)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Local database queueless.db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SharedPreferences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Login session, role, notification setting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Google Maps, Location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Service-centre map and distance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ZXing (core, embedded)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Generate and scan QR codes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Layered Architecture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Presentation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594360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971800" y="1188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Activities, Fragments, Adapters, XML layouts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08760" y="2011680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Business Logic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0" y="2194560"/>
            <a:ext cx="594360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7180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QueueScheduler, AssetReader, PreferenceUtils, QrCodeUtils, NotificationHelper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08760" y="3108960"/>
            <a:ext cx="0" cy="1828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Data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0" y="3291840"/>
            <a:ext cx="594360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71800" y="3383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DatabaseHelper (SQLite), LocalAuthManager, Model classes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MVC mapping:  </a:t>
            </a:r>
            <a:r>
              <a:rPr lang="en-US" sz="1300" dirty="0">
                <a:solidFill>
                  <a:schemeClr val="tx1"/>
                </a:solidFill>
              </a:rPr>
              <a:t>Model = models package   |   View = XML layouts   |   Controller = Activities and Fragments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App Navigation Flow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Start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User flow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Admin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Splash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4572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0" y="10972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Login / Register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417320"/>
            <a:ext cx="4572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43600" y="1097280"/>
            <a:ext cx="27432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MainActivity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Home | Queue | Map | Profile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33172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Service Selection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2651760"/>
            <a:ext cx="3657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206240" y="233172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Generate Token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3657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583680" y="233172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Token Detail + QR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56616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Manage Services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H="1">
            <a:off x="3840480" y="3886200"/>
            <a:ext cx="3657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206240" y="356616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3657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83680" y="356616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QR Scanner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Screenshots: User Side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Login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Register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Email and password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Home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Home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Services grid, quick QR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Queue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Queue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 smtClean="0">
                <a:solidFill>
                  <a:schemeClr val="accent6"/>
                </a:solidFill>
              </a:rPr>
              <a:t>Generate Token and select priority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Token Detail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Token Detail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Token number and QR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35" y="985284"/>
            <a:ext cx="1739486" cy="29771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378" y="985284"/>
            <a:ext cx="1661513" cy="29771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71" y="985284"/>
            <a:ext cx="1664350" cy="296949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750" y="985284"/>
            <a:ext cx="1707632" cy="2969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Screenshots: Admin and More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Admin Dashboard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 Dashboard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Call next, update status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Manage Services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Manage Services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Add, edit, delete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Map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40304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smtClean="0"/>
              <a:t>Token Queue</a:t>
            </a:r>
            <a:r>
              <a:rPr lang="en-US" sz="1400" b="1" dirty="0"/>
              <a:t/>
            </a:r>
            <a:br>
              <a:rPr lang="en-US" sz="1400" b="1" dirty="0"/>
            </a:br>
            <a:r>
              <a:rPr lang="en-US" sz="1200" dirty="0" smtClean="0">
                <a:solidFill>
                  <a:schemeClr val="accent6"/>
                </a:solidFill>
              </a:rPr>
              <a:t>In User Profile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Profile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Mail</a:t>
            </a:r>
            <a:br>
              <a:rPr lang="en-US" sz="1400" b="1" dirty="0" smtClean="0">
                <a:solidFill>
                  <a:schemeClr val="tx1"/>
                </a:solidFill>
              </a:rPr>
            </a:br>
            <a:r>
              <a:rPr lang="en-US" sz="1200" dirty="0" smtClean="0">
                <a:solidFill>
                  <a:schemeClr val="accent6"/>
                </a:solidFill>
              </a:rPr>
              <a:t>Get Token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" y="1051560"/>
            <a:ext cx="1758981" cy="28346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051560"/>
            <a:ext cx="1694121" cy="29032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259" y="1051560"/>
            <a:ext cx="1758981" cy="29032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179" y="1051560"/>
            <a:ext cx="1761462" cy="2903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Screenshots: Admin and More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Admin Dashboard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 smtClean="0"/>
              <a:t>Profile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 smtClean="0">
                <a:solidFill>
                  <a:schemeClr val="accent6"/>
                </a:solidFill>
              </a:rPr>
              <a:t>Token history, Guidelines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Manage Services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Manage Services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Add, edit, delete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Map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40304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smtClean="0"/>
              <a:t>Token History</a:t>
            </a:r>
            <a:r>
              <a:rPr lang="en-US" sz="1400" b="1" dirty="0"/>
              <a:t/>
            </a:r>
            <a:br>
              <a:rPr lang="en-US" sz="1400" b="1" dirty="0"/>
            </a:br>
            <a:r>
              <a:rPr lang="en-US" sz="1200" dirty="0" smtClean="0">
                <a:solidFill>
                  <a:schemeClr val="accent6"/>
                </a:solidFill>
              </a:rPr>
              <a:t>In User Profile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051560"/>
            <a:ext cx="1600200" cy="2834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Paste image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Profile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23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Mail</a:t>
            </a:r>
            <a:br>
              <a:rPr lang="en-US" sz="1400" b="1" dirty="0" smtClean="0">
                <a:solidFill>
                  <a:schemeClr val="tx1"/>
                </a:solidFill>
              </a:rPr>
            </a:br>
            <a:r>
              <a:rPr lang="en-US" sz="1200" dirty="0" smtClean="0">
                <a:solidFill>
                  <a:schemeClr val="accent6"/>
                </a:solidFill>
              </a:rPr>
              <a:t>Get Token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978195"/>
            <a:ext cx="1787333" cy="297658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733" y="978195"/>
            <a:ext cx="1733107" cy="305225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1" y="978194"/>
            <a:ext cx="1783080" cy="305225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308" y="978195"/>
            <a:ext cx="1787332" cy="304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UI Components Used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MaterialCardView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Service, token, history rows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697480" y="12070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RecyclerView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Lists on 6 screens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070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BottomNavigationView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Home, Queue, Map, Profile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03720" y="12070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TextInputLayout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Login, register, notes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239572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Spinner, RadioGroup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Priority and role choice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22860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697480" y="239572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MapView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Google Map of centres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00600" y="239572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DecoratedBarcodeView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Live QR scanner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228600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SwitchMaterial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Notification on / off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" y="358444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ProgressBar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Loading feedback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0" y="34747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697480" y="358444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AlertDialog, DatePicker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Admin actions, date pick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800600" y="358444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ImageView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Shows the QR bitmap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34747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903720" y="358444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Toast, Notification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Messages and status alerts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Model Classes: Data Holders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Models are plain Java classes (POJOs): private fields, constructors, getters and setters. They only store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920240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User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Stores account details of a person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id, name, email, phone, role (USER or ADMIN), createdAt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7830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97480" y="1920240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ServiceModel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Stores one service a person can queue for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id, serviceName, department, avgTimeMins, location, status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1920240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Token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Stores one queue ticket (17 fields)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tokenNumber, userId, serviceId, priorityCategory, basePriority, effectivePriority, status, arrivalTime, notes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78308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903720" y="1920240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QueueHistory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Stores one log entry for a token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id, tokenId, userId, serviceName, action, actionTimestamp, notes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DatabaseHelper and SQLite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9768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Extends SQLiteOpenHelper and creates 4 tables in onCreate()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Singleton: DatabaseHelper.getInstance(context)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Seeds 8 starter services from services.csv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CRUD methods such as insertToken(), getAllServices(), updateTokenStatus()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new token and status change also adds a QueueHistory row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97280"/>
          <a:ext cx="36576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 class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ServiceModel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Token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tokens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QueueHistory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queue_history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3657600"/>
            <a:ext cx="365760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queueless.db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SQLite file stored on the device (version 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QueueScheduler Algorithm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84048"/>
          </a:xfrm>
          <a:prstGeom prst="roundRect">
            <a:avLst>
              <a:gd name="adj" fmla="val 19048"/>
            </a:avLst>
          </a:prstGeom>
          <a:solidFill>
            <a:schemeClr val="accent4"/>
          </a:solidFill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4  Emergency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39319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3  Senior Citizen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48256"/>
            <a:ext cx="3931920" cy="384048"/>
          </a:xfrm>
          <a:prstGeom prst="roundRect">
            <a:avLst>
              <a:gd name="adj" fmla="val 19048"/>
            </a:avLst>
          </a:prstGeom>
          <a:solidFill>
            <a:schemeClr val="accent5"/>
          </a:solidFill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2  Appointment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23744"/>
            <a:ext cx="393192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1  General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46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Effective = Base + floor(wait / 5 min)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Ties are served first come, first served.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ETA = (position - 1) x avg service time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0" y="1097280"/>
          <a:ext cx="41148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Helper and Utility Classes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194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LocalAuthManager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34640" y="1097280"/>
            <a:ext cx="58521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971800" y="113385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Singleton for register and login on a background thread; passwords hashed with PBKDF2 and a random salt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2194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PreferenceUtils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1792224"/>
            <a:ext cx="58521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71800" y="182880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Keeps the logged-in user, role, avatar and notification setting in SharedPreferences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194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AssetReader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487168"/>
            <a:ext cx="58521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971800" y="252374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Reads services.csv (seed data) and queue_rules.txt from the assets folder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2194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QrCodeUtils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3182112"/>
            <a:ext cx="58521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971800" y="3218688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Builds the QR payload, creates the QR bitmap with ZXing and parses scanned codes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2194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NotificationHelper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3877056"/>
            <a:ext cx="58521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971800" y="391363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Creates the notification channel and alerts the user when a token status changes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How Classes Are Connected</a:t>
            </a:r>
          </a:p>
        </p:txBody>
      </p:sp>
      <p:sp>
        <p:nvSpPr>
          <p:cNvPr id="3" name="Text 1"/>
          <p:cNvSpPr/>
          <p:nvPr/>
        </p:nvSpPr>
        <p:spPr>
          <a:xfrm>
            <a:off x="1097280" y="1005840"/>
            <a:ext cx="69494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Activities (12) + Fragments (4)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Controllers: handle taps, move between screens with Intents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21031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Adapters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bind Models to lists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164592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80160" y="283464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14600" y="21031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QueueScheduler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priority, order, ETA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283464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09160" y="21031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Utils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Asset, Pref, QR, Notify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64592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0" y="283464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903720" y="21031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LocalAuthManager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register and login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2834640"/>
            <a:ext cx="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20040" y="3291840"/>
            <a:ext cx="338328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User, ServiceModel, Token, QueueHistory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69080" y="3291840"/>
            <a:ext cx="434340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DatabaseHelper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insert, query, update, delete, seed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3657600"/>
            <a:ext cx="3657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4023360"/>
            <a:ext cx="0" cy="2286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069080" y="4251960"/>
            <a:ext cx="4343400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SQLite: queueless.db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Token Lifecycle Flow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54480" cy="242316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 token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User chooses a service, priority category and 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25980" y="1097280"/>
            <a:ext cx="1554480" cy="242316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6314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263140" y="178308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Set priority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QueueScheduler maps the category to base priority 1 to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1097280"/>
            <a:ext cx="1554480" cy="242316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78308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Save token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 Token model is stored by DatabaseHelper and history is logged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63540" y="1097280"/>
            <a:ext cx="1554480" cy="242316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0070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00700" y="178308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Show QR and ETA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Token detail shows the QR code, position and wait time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0" y="1097280"/>
            <a:ext cx="1554480" cy="242316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948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78308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Admin calls next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Highest effective priority is served; user is notified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Token status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3840480"/>
            <a:ext cx="1234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WAITING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840480"/>
            <a:ext cx="123444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SERVING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840480"/>
            <a:ext cx="123444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840480"/>
            <a:ext cx="1234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SKIPPED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3840480"/>
            <a:ext cx="12344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CANCELLED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71800" y="4046220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34840" y="4046220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Testing and Conclusion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800100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089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71870" y="1280160"/>
            <a:ext cx="763205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Conclusion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QueueLess replaces physical queues with fair, priority-based digital tokens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Models store the data, DatabaseHelper saves it, QueueScheduler decides the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Future scope: cloud sync and push notifications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TextBox 12"/>
          <p:cNvSpPr txBox="1"/>
          <p:nvPr/>
        </p:nvSpPr>
        <p:spPr>
          <a:xfrm>
            <a:off x="1236921" y="2648635"/>
            <a:ext cx="6670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Thank You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eueLess">
  <a:themeElements>
    <a:clrScheme name="QueueLess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EA5E9"/>
      </a:accent1>
      <a:accent2>
        <a:srgbClr val="F59E0B"/>
      </a:accent2>
      <a:accent3>
        <a:srgbClr val="10B981"/>
      </a:accent3>
      <a:accent4>
        <a:srgbClr val="EF4444"/>
      </a:accent4>
      <a:accent5>
        <a:srgbClr val="3B82F6"/>
      </a:accent5>
      <a:accent6>
        <a:srgbClr val="64748B"/>
      </a:accent6>
      <a:hlink>
        <a:srgbClr val="0284C7"/>
      </a:hlink>
      <a:folHlink>
        <a:srgbClr val="64748B"/>
      </a:folHlink>
    </a:clrScheme>
    <a:fontScheme name="QueueL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1068</Words>
  <Application>Microsoft Office PowerPoint</Application>
  <PresentationFormat>On-screen Show (16:9)</PresentationFormat>
  <Paragraphs>283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QueueLess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QueueLess - Smart Queue Management System</dc:title>
  <dc:subject>Mobile Application Development</dc:subject>
  <dc:creator>Amey (T052), Sumit (T053)</dc:creator>
  <cp:lastModifiedBy>Amey</cp:lastModifiedBy>
  <cp:revision>9</cp:revision>
  <dcterms:created xsi:type="dcterms:W3CDTF">2026-10-14T16:59:16Z</dcterms:created>
  <dcterms:modified xsi:type="dcterms:W3CDTF">2026-10-15T07:28:32Z</dcterms:modified>
</cp:coreProperties>
</file>